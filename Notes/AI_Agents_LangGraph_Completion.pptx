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eeplearning.ai/short-courses/ai-agents-in-langgraph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COURSE COMPLETION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LangGraph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8E6F5"/>
                </a:solidFill>
              </a:rPr>
              <a:t>Building Controllable, Production-Ready Agentic Systems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LangGraph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310896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LangChain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310896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Tavily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61188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611880"/>
            <a:ext cx="2468880" cy="365760"/>
          </a:xfrm>
          <a:prstGeom prst="rect">
            <a:avLst/>
          </a:prstGeom>
          <a:solidFill>
            <a:srgbClr val="1522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Agentic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B4C8"/>
                </a:solidFill>
              </a:rPr>
              <a:t>DeepLearning.AI  •  Instructors: Harrison Chase (LangChain) &amp; Rotem Weiss (Tavily)  •  Mayank Chugh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COURSE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solidFill>
            <a:srgbClr val="007A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Course Snapshot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6 structured lessons + hands-on labs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Build agents from scratch with Python + LLM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Rebuild using LangGraph components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Agentic search via Tavily (structured retrieval)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State persistence across threads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Human-in-the-loop checkpoint integration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Capstone: Essay Writing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2011680" cy="160020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25880"/>
            <a:ext cx="201168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5"/>
                </a:solidFill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Core Lessons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2011680" cy="160020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1325880"/>
            <a:ext cx="201168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5"/>
                </a:solidFill>
              </a:rPr>
              <a:t>6+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Hands-on Labs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2011680" cy="160020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201168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5"/>
                </a:solidFill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66344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Key Frameworks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3063240"/>
            <a:ext cx="2011680" cy="160020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3063240"/>
            <a:ext cx="201168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5"/>
                </a:solidFill>
              </a:rPr>
              <a:t>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1228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CURRICULUM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6-Lesson Learning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3619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361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Agent from Scratch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ReAct loop · Tool calling · LLM ↔ code boundary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7160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53619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361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87368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LangGraph Implementation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0299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StateGraph · Nodes · Edges · Conditional routing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7160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153619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5361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3448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 Search with Tavily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0299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Structured multi-answer retrieval · RAG enhancement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7355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735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61288" y="3291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State Persistence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76732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Checkpointers · Thread management · State reload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10896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27355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2735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87368" y="3291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Human-in-the-Loop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0440" y="376732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Interrupt · Approve · Feedback injection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108960"/>
            <a:ext cx="2743200" cy="15544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108960"/>
            <a:ext cx="274320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7" name="Shape 35"/>
          <p:cNvSpPr/>
          <p:nvPr/>
        </p:nvSpPr>
        <p:spPr>
          <a:xfrm>
            <a:off x="6446520" y="3273552"/>
            <a:ext cx="475488" cy="3474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2735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13448" y="3291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Essay Writing Agent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46520" y="376732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B4C8"/>
                </a:solidFill>
              </a:rPr>
              <a:t>Capstone: Planner → Researcher → Writer workflow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SKILLS GAINED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Competencies Developed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356616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743200" cy="457200"/>
          </a:xfrm>
          <a:prstGeom prst="rect">
            <a:avLst/>
          </a:prstGeom>
          <a:solidFill>
            <a:srgbClr val="007A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ReAct reasoning loop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Tool selection &amp;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LLM-code task boundaries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Prompt engineering for agents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743200" cy="356616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25880"/>
            <a:ext cx="2743200" cy="457200"/>
          </a:xfrm>
          <a:prstGeom prst="rect">
            <a:avLst/>
          </a:prstGeom>
          <a:solidFill>
            <a:srgbClr val="007A6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LangGraph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StateGraph construction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Node &amp; edge definition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Conditional &amp; cyclical flows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LangGraph Studio debugging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25880"/>
            <a:ext cx="2743200" cy="356616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25880"/>
            <a:ext cx="2743200" cy="457200"/>
          </a:xfrm>
          <a:prstGeom prst="rect">
            <a:avLst/>
          </a:prstGeom>
          <a:solidFill>
            <a:srgbClr val="00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 Capabilities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Tavily agentic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Multi-thread persistence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Human-in-the-loop checkpoints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</a:rPr>
              <a:t>Capstone essay agent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CAPSTONE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Writing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920240" cy="1645920"/>
          </a:xfrm>
          <a:prstGeom prst="rect">
            <a:avLst/>
          </a:prstGeom>
          <a:solidFill>
            <a:srgbClr val="1522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192024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Planner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Breaks topic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into queries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148840"/>
            <a:ext cx="82296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325880"/>
            <a:ext cx="1920240" cy="1645920"/>
          </a:xfrm>
          <a:prstGeom prst="rect">
            <a:avLst/>
          </a:prstGeom>
          <a:solidFill>
            <a:srgbClr val="1522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25880"/>
            <a:ext cx="192024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Researcher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Agentic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via Tavily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82296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325880"/>
            <a:ext cx="1920240" cy="1645920"/>
          </a:xfrm>
          <a:prstGeom prst="rect">
            <a:avLst/>
          </a:prstGeom>
          <a:solidFill>
            <a:srgbClr val="1522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325880"/>
            <a:ext cx="192024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Writer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Drafts essay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sections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2148840"/>
            <a:ext cx="82296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325880"/>
            <a:ext cx="1920240" cy="1645920"/>
          </a:xfrm>
          <a:prstGeom prst="rect">
            <a:avLst/>
          </a:prstGeom>
          <a:solidFill>
            <a:srgbClr val="1522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1325880"/>
            <a:ext cx="1920240" cy="731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</a:rPr>
              <a:t>Critic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Reviews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requests edits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8412480" cy="45720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F5"/>
                </a:solidFill>
              </a:rPr>
              <a:t>Human-in-the-Loop checkpoint between Critic → Planner for iterative refinement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</a:rPr>
              <a:t>Multi-agent orchestration with LangGraph StateGraph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</a:rPr>
              <a:t>Cyclical flows — agent loops back based on critique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</a:rPr>
              <a:t>Persistent state across planning → research → writing → review cycle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</a:rPr>
              <a:t>Integration of agentic search (Tavily) within a larger workflow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5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Now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Production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Design reliable agentic systems with LangGraph's controllable flow primitives — no more black-box chains.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32588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2588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Agentic RAG Pipelines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Combine Tavily's structured search with LangGraph to build retrieval-augmented agents with real-time knowledge.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Stateful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Implement cross-thread persistence for resumable, debuggable agents — essential for enterprise deployments.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56032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56032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Human Oversight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971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Wire human approval and feedback into agent checkpoints — key for responsible AI in production.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9476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End-to-End Projects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Translate raw transcripts → multi-step agentic workflows, replicating real researcher/analyst patterns.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794760"/>
            <a:ext cx="4206240" cy="109728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794760"/>
            <a:ext cx="64008" cy="109728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Azure OpenAI 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4206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B"/>
                </a:solidFill>
              </a:rPr>
              <a:t>All concepts map directly to Azure OpenAI + LangGraph deployments on AKS or Azure Container Apps.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7A6B">
              <a:alpha val="25000"/>
            </a:srgbClr>
          </a:solidFill>
          <a:ln w="12700">
            <a:solidFill>
              <a:srgbClr val="007A6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FA5"/>
                </a:solidFill>
              </a:rPr>
              <a:t>COURSE COMPLETED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Agents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6F5"/>
                </a:solidFill>
              </a:rPr>
              <a:t>AI Agents in LangGraph  •  DeepLearning.AI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5486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8DB4C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deeplearning.ai/short-courses/ai-agents-in-langgraph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52240"/>
          </a:solidFill>
          <a:ln w="12700">
            <a:solidFill>
              <a:srgbClr val="1E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F5"/>
                </a:solidFill>
              </a:rPr>
              <a:t>Mayank Chugh  •  Cloud &amp; AI Solutions Architect  •  Azure | AWS | GenAI | LangChain | LangGraph | RAG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in LangGraph — Course Completion</dc:title>
  <dc:subject>PptxGenJS Presentation</dc:subject>
  <dc:creator>Mayank Chugh</dc:creator>
  <cp:lastModifiedBy>Mayank Chugh</cp:lastModifiedBy>
  <cp:revision>1</cp:revision>
  <dcterms:created xsi:type="dcterms:W3CDTF">2026-03-29T14:24:13Z</dcterms:created>
  <dcterms:modified xsi:type="dcterms:W3CDTF">2026-03-29T14:24:13Z</dcterms:modified>
</cp:coreProperties>
</file>